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本頁說明 Hartree–Fock（HF）理論的出發點：我們以單一 Slater 行列式作為多電子基態的近似，並透過變分法來優化自旋軌道。在封殼（restricted）的情況下，同一空間軌道對應兩個自旋（上下），因此自旋軌道的空間部分相同。這些假設是後續推導 HF 方程與 SCF 流程的基礎。</a:t>
            </a:r>
          </a:p>
          <a:p/>
          <a:p>
            <a:r>
              <a:t>資料來源頁碼：1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變分處理會在軌道正交條件下加入拉格朗日乘子，得到作用於空間軌道的 Fock 方程。基態能量以一電子項與二電子 Coulomb、exchange 項表示，其中 Fock 算符由核心算符 h 與 HF 位勢 v_HF 組成，後者包含來自其他占據軌道的 Coulomb 與 exchange 貢獻。</a:t>
            </a:r>
          </a:p>
          <a:p/>
          <a:p>
            <a:r>
              <a:t>資料來源頁碼：2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Coulomb 運算子對於給定電子提供其他電子的平均庫倫勢，其作用是局部乘算子；對應的期望值是 Coulomb 積分 Jab。Exchange 運算子則是非局域的，源自行列式的反對稱化，期望值為交換積分 Kab。重要的是，Fock 算符包含這些依賴占據軌道的項，導致 HF 方程成為需要疊代求解的非線性偽本徵值問題。</a:t>
            </a:r>
          </a:p>
          <a:p/>
          <a:p>
            <a:r>
              <a:t>資料來源頁碼：2,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 He 原子的示例中，HF 的平均場近似將兩電子視為互不相關的獨立粒子，電子密度呈同心分布；但精確波函數顯示電子間的相關效應，使得當一電子固定時，另一電子密度在其附近被抑制（所謂 Coulomb hole）。這突顯了 HF 的限制，也說明為什麼後續方法要補上相關能量。</a:t>
            </a:r>
          </a:p>
          <a:p/>
          <a:p>
            <a:r>
              <a:t>資料來源頁碼：3,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Roothaan 方法把空間軌道展開在一組已知基底上，將變分問題轉成矩陣形式。Fock 矩陣與基底積分（包含 H_core 與兩電子積分）有關；重疊矩陣 S 因為基底通常非正交而出現。這種分離把已知的積分與未知的係數（C）區分開，便於數值實作。</a:t>
            </a:r>
          </a:p>
          <a:p/>
          <a:p>
            <a:r>
              <a:t>資料來源頁碼：5, 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SCF 的關鍵是使 HF 位勢與產生該位勢的軌道相容：迭代計算密度、建立 Fock 矩陣、對角化並更新密度，直到能量或密度變化滿足收斂準則（例如能量差小於 10^-6 Eh 或密度矩陣標準差）。在實作上，計算兩電子項通常是耗時主要來源；此外常對重疊矩陣做額外變換以簡化對角化步驟。</a:t>
            </a:r>
          </a:p>
          <a:p/>
          <a:p>
            <a:r>
              <a:t>資料來源頁碼：6, 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SCF 過程可直接提供計算總能量所需的量如 P、H_core、F。軌道能量在不考慮軌道放鬆下可用於 Koopmans 定理估算離子化能與電子親和能，但這包含不放鬆與缺乏相關的誤差。Mulliken 電荷透過 PS 的對角元素分配電子到原子中心，需注意結果會依基組選擇而改變。</a:t>
            </a:r>
          </a:p>
          <a:p/>
          <a:p>
            <a:r>
              <a:t>資料來源頁碼：8, 9, 10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這頁引用 H2O 使用 STO-3G 基組的輸出摘要：SCF 在四次迭代收斂，給出總能量、軌道能級、Mulliken 電荷與偶極矩等可直接用以分析的量。最後列出教材中的控制問題，建議在課後或討論課檢視並回答這些題目，包括 Born–Oppenheimer 近似、Slater 行列式的合理性、Coulomb 與 exchange 的意義、以及 SCF 的實作步驟等。</a:t>
            </a:r>
          </a:p>
          <a:p/>
          <a:p>
            <a:r>
              <a:t>資料來源頁碼：11, 12, 13, 14, 15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E5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881360" y="438912"/>
            <a:ext cx="640080" cy="365760"/>
          </a:xfrm>
          <a:prstGeom prst="rect">
            <a:avLst/>
          </a:prstGeom>
          <a:noFill/>
        </p:spPr>
        <p:txBody>
          <a:bodyPr wrap="none">
            <a:spAutoFit/>
          </a:bodyPr>
          <a:lstStyle/>
          <a:p>
            <a:pPr algn="r">
              <a:defRPr sz="1500" b="1">
                <a:solidFill>
                  <a:srgbClr val="DE5B37"/>
                </a:solidFill>
              </a:defRPr>
            </a:pPr>
            <a:r>
              <a:t>01</a:t>
            </a:r>
          </a:p>
        </p:txBody>
      </p:sp>
      <p:sp>
        <p:nvSpPr>
          <p:cNvPr id="4" name="TextBox 3"/>
          <p:cNvSpPr txBox="1"/>
          <p:nvPr/>
        </p:nvSpPr>
        <p:spPr>
          <a:xfrm>
            <a:off x="777240" y="658368"/>
            <a:ext cx="9875520" cy="1051560"/>
          </a:xfrm>
          <a:prstGeom prst="rect">
            <a:avLst/>
          </a:prstGeom>
          <a:noFill/>
        </p:spPr>
        <p:txBody>
          <a:bodyPr wrap="none">
            <a:spAutoFit/>
          </a:bodyPr>
          <a:lstStyle/>
          <a:p>
            <a:pPr>
              <a:defRPr sz="3000" b="1">
                <a:solidFill>
                  <a:srgbClr val="1B2320"/>
                </a:solidFill>
                <a:latin typeface="Noto Sans TC"/>
              </a:defRPr>
            </a:pPr>
            <a:r>
              <a:t>1. HF 理論的基本假設</a:t>
            </a:r>
          </a:p>
        </p:txBody>
      </p:sp>
      <p:sp>
        <p:nvSpPr>
          <p:cNvPr id="5" name="TextBox 4"/>
          <p:cNvSpPr txBox="1"/>
          <p:nvPr/>
        </p:nvSpPr>
        <p:spPr>
          <a:xfrm>
            <a:off x="960120" y="1874519"/>
            <a:ext cx="9966960" cy="4114800"/>
          </a:xfrm>
          <a:prstGeom prst="rect">
            <a:avLst/>
          </a:prstGeom>
          <a:noFill/>
        </p:spPr>
        <p:txBody>
          <a:bodyPr wrap="square">
            <a:spAutoFit/>
          </a:bodyPr>
          <a:lstStyle/>
          <a:p>
            <a:pPr>
              <a:spcAft>
                <a:spcPts val="1800"/>
              </a:spcAft>
              <a:defRPr sz="2100">
                <a:solidFill>
                  <a:srgbClr val="37413D"/>
                </a:solidFill>
                <a:latin typeface="Noto Sans TC"/>
              </a:defRPr>
            </a:pPr>
            <a:r>
              <a:t>以單一 Slater 行列式描述多電子波函數</a:t>
            </a:r>
          </a:p>
          <a:p>
            <a:pPr>
              <a:spcAft>
                <a:spcPts val="1800"/>
              </a:spcAft>
              <a:defRPr sz="2100">
                <a:solidFill>
                  <a:srgbClr val="37413D"/>
                </a:solidFill>
                <a:latin typeface="Noto Sans TC"/>
              </a:defRPr>
            </a:pPr>
            <a:r>
              <a:t>以自變分演算法決定自旋軌道</a:t>
            </a:r>
          </a:p>
          <a:p>
            <a:pPr>
              <a:spcAft>
                <a:spcPts val="1800"/>
              </a:spcAft>
              <a:defRPr sz="2100">
                <a:solidFill>
                  <a:srgbClr val="37413D"/>
                </a:solidFill>
                <a:latin typeface="Noto Sans TC"/>
              </a:defRPr>
            </a:pPr>
            <a:r>
              <a:t>封殼（restricted, closed shell）假設：自旋軌道具有相同的空間部分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E5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881360" y="438912"/>
            <a:ext cx="640080" cy="365760"/>
          </a:xfrm>
          <a:prstGeom prst="rect">
            <a:avLst/>
          </a:prstGeom>
          <a:noFill/>
        </p:spPr>
        <p:txBody>
          <a:bodyPr wrap="none">
            <a:spAutoFit/>
          </a:bodyPr>
          <a:lstStyle/>
          <a:p>
            <a:pPr algn="r">
              <a:defRPr sz="1500" b="1">
                <a:solidFill>
                  <a:srgbClr val="DE5B37"/>
                </a:solidFill>
              </a:defRPr>
            </a:pPr>
            <a:r>
              <a:t>02</a:t>
            </a:r>
          </a:p>
        </p:txBody>
      </p:sp>
      <p:sp>
        <p:nvSpPr>
          <p:cNvPr id="4" name="TextBox 3"/>
          <p:cNvSpPr txBox="1"/>
          <p:nvPr/>
        </p:nvSpPr>
        <p:spPr>
          <a:xfrm>
            <a:off x="777240" y="658368"/>
            <a:ext cx="9875520" cy="1051560"/>
          </a:xfrm>
          <a:prstGeom prst="rect">
            <a:avLst/>
          </a:prstGeom>
          <a:noFill/>
        </p:spPr>
        <p:txBody>
          <a:bodyPr wrap="none">
            <a:spAutoFit/>
          </a:bodyPr>
          <a:lstStyle/>
          <a:p>
            <a:pPr>
              <a:defRPr sz="3000" b="1">
                <a:solidFill>
                  <a:srgbClr val="1B2320"/>
                </a:solidFill>
                <a:latin typeface="Noto Sans TC"/>
              </a:defRPr>
            </a:pPr>
            <a:r>
              <a:t>2. HF 基態能量與變分條件</a:t>
            </a:r>
          </a:p>
        </p:txBody>
      </p:sp>
      <p:sp>
        <p:nvSpPr>
          <p:cNvPr id="5" name="TextBox 4"/>
          <p:cNvSpPr txBox="1"/>
          <p:nvPr/>
        </p:nvSpPr>
        <p:spPr>
          <a:xfrm>
            <a:off x="960120" y="1874519"/>
            <a:ext cx="9966960" cy="4114800"/>
          </a:xfrm>
          <a:prstGeom prst="rect">
            <a:avLst/>
          </a:prstGeom>
          <a:noFill/>
        </p:spPr>
        <p:txBody>
          <a:bodyPr wrap="square">
            <a:spAutoFit/>
          </a:bodyPr>
          <a:lstStyle/>
          <a:p>
            <a:pPr>
              <a:spcAft>
                <a:spcPts val="1800"/>
              </a:spcAft>
              <a:defRPr sz="2100">
                <a:solidFill>
                  <a:srgbClr val="37413D"/>
                </a:solidFill>
                <a:latin typeface="Noto Sans TC"/>
              </a:defRPr>
            </a:pPr>
            <a:r>
              <a:t>基態能量表達式 E0 = Σ haa + Σ (2Jab − Kab)</a:t>
            </a:r>
          </a:p>
          <a:p>
            <a:pPr>
              <a:spcAft>
                <a:spcPts val="1800"/>
              </a:spcAft>
              <a:defRPr sz="2100">
                <a:solidFill>
                  <a:srgbClr val="37413D"/>
                </a:solidFill>
                <a:latin typeface="Noto Sans TC"/>
              </a:defRPr>
            </a:pPr>
            <a:r>
              <a:t>在軌道正交約束下以拉格朗日乘子處理變分：導出 Fock 方程 f(r) φ = ε φ</a:t>
            </a:r>
          </a:p>
          <a:p>
            <a:pPr>
              <a:spcAft>
                <a:spcPts val="1800"/>
              </a:spcAft>
              <a:defRPr sz="2100">
                <a:solidFill>
                  <a:srgbClr val="37413D"/>
                </a:solidFill>
                <a:latin typeface="Noto Sans TC"/>
              </a:defRPr>
            </a:pPr>
            <a:r>
              <a:t>Fock 算符為有效一電子算符：f = h + v_HF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E5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881360" y="438912"/>
            <a:ext cx="640080" cy="365760"/>
          </a:xfrm>
          <a:prstGeom prst="rect">
            <a:avLst/>
          </a:prstGeom>
          <a:noFill/>
        </p:spPr>
        <p:txBody>
          <a:bodyPr wrap="none">
            <a:spAutoFit/>
          </a:bodyPr>
          <a:lstStyle/>
          <a:p>
            <a:pPr algn="r">
              <a:defRPr sz="1500" b="1">
                <a:solidFill>
                  <a:srgbClr val="DE5B37"/>
                </a:solidFill>
              </a:defRPr>
            </a:pPr>
            <a:r>
              <a:t>03</a:t>
            </a:r>
          </a:p>
        </p:txBody>
      </p:sp>
      <p:sp>
        <p:nvSpPr>
          <p:cNvPr id="4" name="TextBox 3"/>
          <p:cNvSpPr txBox="1"/>
          <p:nvPr/>
        </p:nvSpPr>
        <p:spPr>
          <a:xfrm>
            <a:off x="777240" y="658368"/>
            <a:ext cx="9875520" cy="1051560"/>
          </a:xfrm>
          <a:prstGeom prst="rect">
            <a:avLst/>
          </a:prstGeom>
          <a:noFill/>
        </p:spPr>
        <p:txBody>
          <a:bodyPr wrap="none">
            <a:spAutoFit/>
          </a:bodyPr>
          <a:lstStyle/>
          <a:p>
            <a:pPr>
              <a:defRPr sz="3000" b="1">
                <a:solidFill>
                  <a:srgbClr val="1B2320"/>
                </a:solidFill>
                <a:latin typeface="Noto Sans TC"/>
              </a:defRPr>
            </a:pPr>
            <a:r>
              <a:t>3. Coulomb 與 Exchange 運算子</a:t>
            </a:r>
          </a:p>
        </p:txBody>
      </p:sp>
      <p:sp>
        <p:nvSpPr>
          <p:cNvPr id="5" name="TextBox 4"/>
          <p:cNvSpPr txBox="1"/>
          <p:nvPr/>
        </p:nvSpPr>
        <p:spPr>
          <a:xfrm>
            <a:off x="960120" y="1874519"/>
            <a:ext cx="9966960" cy="4114800"/>
          </a:xfrm>
          <a:prstGeom prst="rect">
            <a:avLst/>
          </a:prstGeom>
          <a:noFill/>
        </p:spPr>
        <p:txBody>
          <a:bodyPr wrap="square">
            <a:spAutoFit/>
          </a:bodyPr>
          <a:lstStyle/>
          <a:p>
            <a:pPr>
              <a:spcAft>
                <a:spcPts val="1800"/>
              </a:spcAft>
              <a:defRPr sz="2100">
                <a:solidFill>
                  <a:srgbClr val="37413D"/>
                </a:solidFill>
                <a:latin typeface="Noto Sans TC"/>
              </a:defRPr>
            </a:pPr>
            <a:r>
              <a:t>Coulomb 運算子 J_b(r1)：局部操作，產生平均庫倫勢</a:t>
            </a:r>
          </a:p>
          <a:p>
            <a:pPr>
              <a:spcAft>
                <a:spcPts val="1800"/>
              </a:spcAft>
              <a:defRPr sz="2100">
                <a:solidFill>
                  <a:srgbClr val="37413D"/>
                </a:solidFill>
                <a:latin typeface="Noto Sans TC"/>
              </a:defRPr>
            </a:pPr>
            <a:r>
              <a:t>Exchange 運算子 K_b(r1)：非局域，來自波函數反對稱性</a:t>
            </a:r>
          </a:p>
          <a:p>
            <a:pPr>
              <a:spcAft>
                <a:spcPts val="1800"/>
              </a:spcAft>
              <a:defRPr sz="2100">
                <a:solidFill>
                  <a:srgbClr val="37413D"/>
                </a:solidFill>
                <a:latin typeface="Noto Sans TC"/>
              </a:defRPr>
            </a:pPr>
            <a:r>
              <a:t>HF 方程為非線性（Fock 依賴其本身的解）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E5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881360" y="438912"/>
            <a:ext cx="640080" cy="365760"/>
          </a:xfrm>
          <a:prstGeom prst="rect">
            <a:avLst/>
          </a:prstGeom>
          <a:noFill/>
        </p:spPr>
        <p:txBody>
          <a:bodyPr wrap="none">
            <a:spAutoFit/>
          </a:bodyPr>
          <a:lstStyle/>
          <a:p>
            <a:pPr algn="r">
              <a:defRPr sz="1500" b="1">
                <a:solidFill>
                  <a:srgbClr val="DE5B37"/>
                </a:solidFill>
              </a:defRPr>
            </a:pPr>
            <a:r>
              <a:t>04</a:t>
            </a:r>
          </a:p>
        </p:txBody>
      </p:sp>
      <p:sp>
        <p:nvSpPr>
          <p:cNvPr id="4" name="TextBox 3"/>
          <p:cNvSpPr txBox="1"/>
          <p:nvPr/>
        </p:nvSpPr>
        <p:spPr>
          <a:xfrm>
            <a:off x="777240" y="658368"/>
            <a:ext cx="9875520" cy="1051560"/>
          </a:xfrm>
          <a:prstGeom prst="rect">
            <a:avLst/>
          </a:prstGeom>
          <a:noFill/>
        </p:spPr>
        <p:txBody>
          <a:bodyPr wrap="none">
            <a:spAutoFit/>
          </a:bodyPr>
          <a:lstStyle/>
          <a:p>
            <a:pPr>
              <a:defRPr sz="3000" b="1">
                <a:solidFill>
                  <a:srgbClr val="1B2320"/>
                </a:solidFill>
                <a:latin typeface="Noto Sans TC"/>
              </a:defRPr>
            </a:pPr>
            <a:r>
              <a:t>4. 平均場近似的含意（以 He 原子為例）</a:t>
            </a:r>
          </a:p>
        </p:txBody>
      </p:sp>
      <p:sp>
        <p:nvSpPr>
          <p:cNvPr id="5" name="TextBox 4"/>
          <p:cNvSpPr txBox="1"/>
          <p:nvPr/>
        </p:nvSpPr>
        <p:spPr>
          <a:xfrm>
            <a:off x="960120" y="1874519"/>
            <a:ext cx="9966960" cy="4114800"/>
          </a:xfrm>
          <a:prstGeom prst="rect">
            <a:avLst/>
          </a:prstGeom>
          <a:noFill/>
        </p:spPr>
        <p:txBody>
          <a:bodyPr wrap="square">
            <a:spAutoFit/>
          </a:bodyPr>
          <a:lstStyle/>
          <a:p>
            <a:pPr>
              <a:spcAft>
                <a:spcPts val="1800"/>
              </a:spcAft>
              <a:defRPr sz="2100">
                <a:solidFill>
                  <a:srgbClr val="37413D"/>
                </a:solidFill>
                <a:latin typeface="Noto Sans TC"/>
              </a:defRPr>
            </a:pPr>
            <a:r>
              <a:t>HF（平均場）使兩電子在原子核周圍獨立：電子密度對稱</a:t>
            </a:r>
          </a:p>
          <a:p>
            <a:pPr>
              <a:spcAft>
                <a:spcPts val="1800"/>
              </a:spcAft>
              <a:defRPr sz="2100">
                <a:solidFill>
                  <a:srgbClr val="37413D"/>
                </a:solidFill>
                <a:latin typeface="Noto Sans TC"/>
              </a:defRPr>
            </a:pPr>
            <a:r>
              <a:t>精確解則顯示電子間的相關（Coulomb hole），密度在被固定電子附近減少</a:t>
            </a:r>
          </a:p>
          <a:p>
            <a:pPr>
              <a:spcAft>
                <a:spcPts val="1800"/>
              </a:spcAft>
              <a:defRPr sz="2100">
                <a:solidFill>
                  <a:srgbClr val="37413D"/>
                </a:solidFill>
                <a:latin typeface="Noto Sans TC"/>
              </a:defRPr>
            </a:pPr>
            <a:r>
              <a:t>超越 HF 的方法目標是重現 Coulomb hole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E5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881360" y="438912"/>
            <a:ext cx="640080" cy="365760"/>
          </a:xfrm>
          <a:prstGeom prst="rect">
            <a:avLst/>
          </a:prstGeom>
          <a:noFill/>
        </p:spPr>
        <p:txBody>
          <a:bodyPr wrap="none">
            <a:spAutoFit/>
          </a:bodyPr>
          <a:lstStyle/>
          <a:p>
            <a:pPr algn="r">
              <a:defRPr sz="1500" b="1">
                <a:solidFill>
                  <a:srgbClr val="DE5B37"/>
                </a:solidFill>
              </a:defRPr>
            </a:pPr>
            <a:r>
              <a:t>05</a:t>
            </a:r>
          </a:p>
        </p:txBody>
      </p:sp>
      <p:sp>
        <p:nvSpPr>
          <p:cNvPr id="4" name="TextBox 3"/>
          <p:cNvSpPr txBox="1"/>
          <p:nvPr/>
        </p:nvSpPr>
        <p:spPr>
          <a:xfrm>
            <a:off x="777240" y="658368"/>
            <a:ext cx="9875520" cy="1051560"/>
          </a:xfrm>
          <a:prstGeom prst="rect">
            <a:avLst/>
          </a:prstGeom>
          <a:noFill/>
        </p:spPr>
        <p:txBody>
          <a:bodyPr wrap="none">
            <a:spAutoFit/>
          </a:bodyPr>
          <a:lstStyle/>
          <a:p>
            <a:pPr>
              <a:defRPr sz="3000" b="1">
                <a:solidFill>
                  <a:srgbClr val="1B2320"/>
                </a:solidFill>
                <a:latin typeface="Noto Sans TC"/>
              </a:defRPr>
            </a:pPr>
            <a:r>
              <a:t>5. Roothaan 公式：以基底展開軌道</a:t>
            </a:r>
          </a:p>
        </p:txBody>
      </p:sp>
      <p:sp>
        <p:nvSpPr>
          <p:cNvPr id="5" name="TextBox 4"/>
          <p:cNvSpPr txBox="1"/>
          <p:nvPr/>
        </p:nvSpPr>
        <p:spPr>
          <a:xfrm>
            <a:off x="960120" y="1874519"/>
            <a:ext cx="9966960" cy="4114800"/>
          </a:xfrm>
          <a:prstGeom prst="rect">
            <a:avLst/>
          </a:prstGeom>
          <a:noFill/>
        </p:spPr>
        <p:txBody>
          <a:bodyPr wrap="square">
            <a:spAutoFit/>
          </a:bodyPr>
          <a:lstStyle/>
          <a:p>
            <a:pPr>
              <a:spcAft>
                <a:spcPts val="1800"/>
              </a:spcAft>
              <a:defRPr sz="2100">
                <a:solidFill>
                  <a:srgbClr val="37413D"/>
                </a:solidFill>
                <a:latin typeface="Noto Sans TC"/>
              </a:defRPr>
            </a:pPr>
            <a:r>
              <a:t>空間軌道以 K 個已知基函數展開：φ_i(r) = Σ C_μi χ_μ(r)</a:t>
            </a:r>
          </a:p>
          <a:p>
            <a:pPr>
              <a:spcAft>
                <a:spcPts val="1800"/>
              </a:spcAft>
              <a:defRPr sz="2100">
                <a:solidFill>
                  <a:srgbClr val="37413D"/>
                </a:solidFill>
                <a:latin typeface="Noto Sans TC"/>
              </a:defRPr>
            </a:pPr>
            <a:r>
              <a:t>插入 HF 方程化為矩陣問題：F C = S C ε（F 為 Fock 矩陣，S 為重疊矩陣）</a:t>
            </a:r>
          </a:p>
          <a:p>
            <a:pPr>
              <a:spcAft>
                <a:spcPts val="1800"/>
              </a:spcAft>
              <a:defRPr sz="2100">
                <a:solidFill>
                  <a:srgbClr val="37413D"/>
                </a:solidFill>
                <a:latin typeface="Noto Sans TC"/>
              </a:defRPr>
            </a:pPr>
            <a:r>
              <a:t>F 可拆成 H_core（一次項，固定）與 G（兩電子項，依密度）</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E5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881360" y="438912"/>
            <a:ext cx="640080" cy="365760"/>
          </a:xfrm>
          <a:prstGeom prst="rect">
            <a:avLst/>
          </a:prstGeom>
          <a:noFill/>
        </p:spPr>
        <p:txBody>
          <a:bodyPr wrap="none">
            <a:spAutoFit/>
          </a:bodyPr>
          <a:lstStyle/>
          <a:p>
            <a:pPr algn="r">
              <a:defRPr sz="1500" b="1">
                <a:solidFill>
                  <a:srgbClr val="DE5B37"/>
                </a:solidFill>
              </a:defRPr>
            </a:pPr>
            <a:r>
              <a:t>06</a:t>
            </a:r>
          </a:p>
        </p:txBody>
      </p:sp>
      <p:sp>
        <p:nvSpPr>
          <p:cNvPr id="4" name="TextBox 3"/>
          <p:cNvSpPr txBox="1"/>
          <p:nvPr/>
        </p:nvSpPr>
        <p:spPr>
          <a:xfrm>
            <a:off x="777240" y="658368"/>
            <a:ext cx="9875520" cy="1051560"/>
          </a:xfrm>
          <a:prstGeom prst="rect">
            <a:avLst/>
          </a:prstGeom>
          <a:noFill/>
        </p:spPr>
        <p:txBody>
          <a:bodyPr wrap="none">
            <a:spAutoFit/>
          </a:bodyPr>
          <a:lstStyle/>
          <a:p>
            <a:pPr>
              <a:defRPr sz="3000" b="1">
                <a:solidFill>
                  <a:srgbClr val="1B2320"/>
                </a:solidFill>
                <a:latin typeface="Noto Sans TC"/>
              </a:defRPr>
            </a:pPr>
            <a:r>
              <a:t>6. 自洽場（SCF）求解流程</a:t>
            </a:r>
          </a:p>
        </p:txBody>
      </p:sp>
      <p:sp>
        <p:nvSpPr>
          <p:cNvPr id="5" name="TextBox 4"/>
          <p:cNvSpPr txBox="1"/>
          <p:nvPr/>
        </p:nvSpPr>
        <p:spPr>
          <a:xfrm>
            <a:off x="960120" y="1874519"/>
            <a:ext cx="9966960" cy="4114800"/>
          </a:xfrm>
          <a:prstGeom prst="rect">
            <a:avLst/>
          </a:prstGeom>
          <a:noFill/>
        </p:spPr>
        <p:txBody>
          <a:bodyPr wrap="square">
            <a:spAutoFit/>
          </a:bodyPr>
          <a:lstStyle/>
          <a:p>
            <a:pPr>
              <a:spcAft>
                <a:spcPts val="1800"/>
              </a:spcAft>
              <a:defRPr sz="2100">
                <a:solidFill>
                  <a:srgbClr val="37413D"/>
                </a:solidFill>
                <a:latin typeface="Noto Sans TC"/>
              </a:defRPr>
            </a:pPr>
            <a:r>
              <a:t>1) 指定分子、核位置、原子序、電子數與基底</a:t>
            </a:r>
          </a:p>
          <a:p>
            <a:pPr>
              <a:spcAft>
                <a:spcPts val="1800"/>
              </a:spcAft>
              <a:defRPr sz="2100">
                <a:solidFill>
                  <a:srgbClr val="37413D"/>
                </a:solidFill>
                <a:latin typeface="Noto Sans TC"/>
              </a:defRPr>
            </a:pPr>
            <a:r>
              <a:t>2) 計算分子積分：H_core、兩電子積分、S</a:t>
            </a:r>
          </a:p>
          <a:p>
            <a:pPr>
              <a:spcAft>
                <a:spcPts val="1800"/>
              </a:spcAft>
              <a:defRPr sz="2100">
                <a:solidFill>
                  <a:srgbClr val="37413D"/>
                </a:solidFill>
                <a:latin typeface="Noto Sans TC"/>
              </a:defRPr>
            </a:pPr>
            <a:r>
              <a:t>3) 給出初始密度矩陣 P（例如 Hückel 猜測）</a:t>
            </a:r>
          </a:p>
          <a:p>
            <a:pPr>
              <a:spcAft>
                <a:spcPts val="1800"/>
              </a:spcAft>
              <a:defRPr sz="2100">
                <a:solidFill>
                  <a:srgbClr val="37413D"/>
                </a:solidFill>
                <a:latin typeface="Noto Sans TC"/>
              </a:defRPr>
            </a:pPr>
            <a:r>
              <a:t>4) 計算 F = H_core + G；5) 對角化 F；6) 更新 P；重複至收斂</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E5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881360" y="438912"/>
            <a:ext cx="640080" cy="365760"/>
          </a:xfrm>
          <a:prstGeom prst="rect">
            <a:avLst/>
          </a:prstGeom>
          <a:noFill/>
        </p:spPr>
        <p:txBody>
          <a:bodyPr wrap="none">
            <a:spAutoFit/>
          </a:bodyPr>
          <a:lstStyle/>
          <a:p>
            <a:pPr algn="r">
              <a:defRPr sz="1500" b="1">
                <a:solidFill>
                  <a:srgbClr val="DE5B37"/>
                </a:solidFill>
              </a:defRPr>
            </a:pPr>
            <a:r>
              <a:t>07</a:t>
            </a:r>
          </a:p>
        </p:txBody>
      </p:sp>
      <p:sp>
        <p:nvSpPr>
          <p:cNvPr id="4" name="TextBox 3"/>
          <p:cNvSpPr txBox="1"/>
          <p:nvPr/>
        </p:nvSpPr>
        <p:spPr>
          <a:xfrm>
            <a:off x="777240" y="658368"/>
            <a:ext cx="9875520" cy="1051560"/>
          </a:xfrm>
          <a:prstGeom prst="rect">
            <a:avLst/>
          </a:prstGeom>
          <a:noFill/>
        </p:spPr>
        <p:txBody>
          <a:bodyPr wrap="none">
            <a:spAutoFit/>
          </a:bodyPr>
          <a:lstStyle/>
          <a:p>
            <a:pPr>
              <a:defRPr sz="3000" b="1">
                <a:solidFill>
                  <a:srgbClr val="1B2320"/>
                </a:solidFill>
                <a:latin typeface="Noto Sans TC"/>
              </a:defRPr>
            </a:pPr>
            <a:r>
              <a:t>7. 結果分析：能量、軌道能量、Koopmans 與 Mulliken</a:t>
            </a:r>
          </a:p>
        </p:txBody>
      </p:sp>
      <p:sp>
        <p:nvSpPr>
          <p:cNvPr id="5" name="TextBox 4"/>
          <p:cNvSpPr txBox="1"/>
          <p:nvPr/>
        </p:nvSpPr>
        <p:spPr>
          <a:xfrm>
            <a:off x="960120" y="1874519"/>
            <a:ext cx="9966960" cy="4114800"/>
          </a:xfrm>
          <a:prstGeom prst="rect">
            <a:avLst/>
          </a:prstGeom>
          <a:noFill/>
        </p:spPr>
        <p:txBody>
          <a:bodyPr wrap="square">
            <a:spAutoFit/>
          </a:bodyPr>
          <a:lstStyle/>
          <a:p>
            <a:pPr>
              <a:spcAft>
                <a:spcPts val="1800"/>
              </a:spcAft>
              <a:defRPr sz="2100">
                <a:solidFill>
                  <a:srgbClr val="37413D"/>
                </a:solidFill>
                <a:latin typeface="Noto Sans TC"/>
              </a:defRPr>
            </a:pPr>
            <a:r>
              <a:t>基態總能量可寫為 E0 = 1/2 Σ_{μν} P_{νμ} (H_core_{μν} + F_{μν})</a:t>
            </a:r>
          </a:p>
          <a:p>
            <a:pPr>
              <a:spcAft>
                <a:spcPts val="1800"/>
              </a:spcAft>
              <a:defRPr sz="2100">
                <a:solidFill>
                  <a:srgbClr val="37413D"/>
                </a:solidFill>
                <a:latin typeface="Noto Sans TC"/>
              </a:defRPr>
            </a:pPr>
            <a:r>
              <a:t>占據軌道與虛軌道能量可解釋為一電子能量加與其他電子的相互作用</a:t>
            </a:r>
          </a:p>
          <a:p>
            <a:pPr>
              <a:spcAft>
                <a:spcPts val="1800"/>
              </a:spcAft>
              <a:defRPr sz="2100">
                <a:solidFill>
                  <a:srgbClr val="37413D"/>
                </a:solidFill>
                <a:latin typeface="Noto Sans TC"/>
              </a:defRPr>
            </a:pPr>
            <a:r>
              <a:t>Koopmans 定理：移除（加入）電子的 IP（EA）近似為負的軌道能量（假設軌道不放鬆）</a:t>
            </a:r>
          </a:p>
          <a:p>
            <a:pPr>
              <a:spcAft>
                <a:spcPts val="1800"/>
              </a:spcAft>
              <a:defRPr sz="2100">
                <a:solidFill>
                  <a:srgbClr val="37413D"/>
                </a:solidFill>
                <a:latin typeface="Noto Sans TC"/>
              </a:defRPr>
            </a:pPr>
            <a:r>
              <a:t>Mulliken 分析以密度矩陣與重疊矩陣分配電子數與原子電荷（依賴基組）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E5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881360" y="438912"/>
            <a:ext cx="640080" cy="365760"/>
          </a:xfrm>
          <a:prstGeom prst="rect">
            <a:avLst/>
          </a:prstGeom>
          <a:noFill/>
        </p:spPr>
        <p:txBody>
          <a:bodyPr wrap="none">
            <a:spAutoFit/>
          </a:bodyPr>
          <a:lstStyle/>
          <a:p>
            <a:pPr algn="r">
              <a:defRPr sz="1500" b="1">
                <a:solidFill>
                  <a:srgbClr val="DE5B37"/>
                </a:solidFill>
              </a:defRPr>
            </a:pPr>
            <a:r>
              <a:t>08</a:t>
            </a:r>
          </a:p>
        </p:txBody>
      </p:sp>
      <p:sp>
        <p:nvSpPr>
          <p:cNvPr id="4" name="TextBox 3"/>
          <p:cNvSpPr txBox="1"/>
          <p:nvPr/>
        </p:nvSpPr>
        <p:spPr>
          <a:xfrm>
            <a:off x="777240" y="658368"/>
            <a:ext cx="9875520" cy="1051560"/>
          </a:xfrm>
          <a:prstGeom prst="rect">
            <a:avLst/>
          </a:prstGeom>
          <a:noFill/>
        </p:spPr>
        <p:txBody>
          <a:bodyPr wrap="none">
            <a:spAutoFit/>
          </a:bodyPr>
          <a:lstStyle/>
          <a:p>
            <a:pPr>
              <a:defRPr sz="3000" b="1">
                <a:solidFill>
                  <a:srgbClr val="1B2320"/>
                </a:solidFill>
                <a:latin typeface="Noto Sans TC"/>
              </a:defRPr>
            </a:pPr>
            <a:r>
              <a:t>8. 範例：H2O / STO-3G 與課堂思考題</a:t>
            </a:r>
          </a:p>
        </p:txBody>
      </p:sp>
      <p:sp>
        <p:nvSpPr>
          <p:cNvPr id="5" name="TextBox 4"/>
          <p:cNvSpPr txBox="1"/>
          <p:nvPr/>
        </p:nvSpPr>
        <p:spPr>
          <a:xfrm>
            <a:off x="960120" y="1874519"/>
            <a:ext cx="9966960" cy="4114800"/>
          </a:xfrm>
          <a:prstGeom prst="rect">
            <a:avLst/>
          </a:prstGeom>
          <a:noFill/>
        </p:spPr>
        <p:txBody>
          <a:bodyPr wrap="square">
            <a:spAutoFit/>
          </a:bodyPr>
          <a:lstStyle/>
          <a:p>
            <a:pPr>
              <a:spcAft>
                <a:spcPts val="1800"/>
              </a:spcAft>
              <a:defRPr sz="2100">
                <a:solidFill>
                  <a:srgbClr val="37413D"/>
                </a:solidFill>
                <a:latin typeface="Noto Sans TC"/>
              </a:defRPr>
            </a:pPr>
            <a:r>
              <a:t>STO-3G 最小基底 SCF 結果（收斂於 4 次）：E(RHF) = −74.9592901826 a.u.</a:t>
            </a:r>
          </a:p>
          <a:p>
            <a:pPr>
              <a:spcAft>
                <a:spcPts val="1800"/>
              </a:spcAft>
              <a:defRPr sz="2100">
                <a:solidFill>
                  <a:srgbClr val="37413D"/>
                </a:solidFill>
                <a:latin typeface="Noto Sans TC"/>
              </a:defRPr>
            </a:pPr>
            <a:r>
              <a:t>占據軌道能量（部分）：-20.23375, -1.26596, -0.62953, -0.44177, -0.38785</a:t>
            </a:r>
          </a:p>
          <a:p>
            <a:pPr>
              <a:spcAft>
                <a:spcPts val="1800"/>
              </a:spcAft>
              <a:defRPr sz="2100">
                <a:solidFill>
                  <a:srgbClr val="37413D"/>
                </a:solidFill>
                <a:latin typeface="Noto Sans TC"/>
              </a:defRPr>
            </a:pPr>
            <a:r>
              <a:t>Mulliken 電荷：H（各）≈ +0.190945，O ≈ −0.381891；偶極矩 Z = −1.7009 D</a:t>
            </a:r>
          </a:p>
          <a:p>
            <a:pPr>
              <a:spcAft>
                <a:spcPts val="1800"/>
              </a:spcAft>
              <a:defRPr sz="2100">
                <a:solidFill>
                  <a:srgbClr val="37413D"/>
                </a:solidFill>
                <a:latin typeface="Noto Sans TC"/>
              </a:defRPr>
            </a:pPr>
            <a:r>
              <a:t>課堂控制問題：Born–Oppenheimer、Slater 行列式、交換與相關、HF 方程、Roothaan 與 SCF 步驟等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