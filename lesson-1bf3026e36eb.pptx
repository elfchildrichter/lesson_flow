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歡迎來到「MolPhys2.4」。這堂課會從核心概念開始，逐步連結到實際應用。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這一頁聚焦在「THEORETICAL MOLECULAR 」。THEORETICAL MOLECULAR PHYSICS 27</a:t>
            </a:r>
          </a:p>
          <a:p>
            <a:r>
              <a:t>2.4. Hartree Fock Self-Consistent Field Method.</a:t>
            </a:r>
          </a:p>
          <a:p>
            <a:r>
              <a:t>2.4.1. The Hartree-F ock Equations.</a:t>
            </a:r>
          </a:p>
          <a:p>
            <a:r>
              <a:t>• Hartree Fock (HF) theory is cornerstone of most quantum chemical methods</a:t>
            </a:r>
          </a:p>
          <a:p>
            <a:r>
              <a:t>• based on single determinant description of wave function with spin orbitals being deter-</a:t>
            </a:r>
          </a:p>
          <a:p>
            <a:r>
              <a:t>mined by a variat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這一頁聚焦在「30 O. K ¨UHN</a:t>
            </a:r>
          </a:p>
          <a:p>
            <a:r>
              <a:t>(taken fr」。30 O. K ¨UHN</a:t>
            </a:r>
          </a:p>
          <a:p>
            <a:r>
              <a:t>(taken from Helgaker et al.)</a:t>
            </a:r>
          </a:p>
          <a:p/>
          <a:p>
            <a:r>
              <a:t>資料來源頁碼：4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這一頁聚焦在「THEORETICAL MOLECULAR 」。THEORETICAL MOLECULAR PHYSICS 33</a:t>
            </a:r>
          </a:p>
          <a:p>
            <a:r>
              <a:t>FIGURE 17. (from Cramer, Computational Chemistry)</a:t>
            </a:r>
          </a:p>
          <a:p>
            <a:r>
              <a:t>(7) if, e.g., the density matrix or the energy has changed (applying some convergence</a:t>
            </a:r>
          </a:p>
          <a:p>
            <a:r>
              <a:t>criterium) go back to 4, otherwise</a:t>
            </a:r>
          </a:p>
          <a:p>
            <a:r>
              <a:t>!convergence criterium, e.g., |E(i)</a:t>
            </a:r>
          </a:p>
          <a:p>
            <a:r>
              <a:t>0 _x0000_ E(i_x0000_1)</a:t>
            </a:r>
          </a:p>
          <a:p>
            <a:r>
              <a:t>0 | &lt; 10_x0000_6Eh (or use standard deviation</a:t>
            </a:r>
          </a:p>
          <a:p>
            <a:r>
              <a:t>of densit</a:t>
            </a:r>
          </a:p>
          <a:p/>
          <a:p>
            <a:r>
              <a:t>資料來源頁碼：7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這一頁聚焦在「THEORETICAL MOLECULAR 」。THEORETICAL MOLECULAR PHYSICS 35</a:t>
            </a:r>
          </a:p>
          <a:p>
            <a:r>
              <a:t>• Question: What’s the meaning of the orbital energies obtained from the solution of the</a:t>
            </a:r>
          </a:p>
          <a:p>
            <a:r>
              <a:t>HF equations?</a:t>
            </a:r>
          </a:p>
          <a:p>
            <a:r>
              <a:t>• express the orbital energies in terms of the one and two electron matrix elements</a:t>
            </a:r>
          </a:p>
          <a:p>
            <a:r>
              <a:t>• occupied states</a:t>
            </a:r>
          </a:p>
          <a:p>
            <a:r>
              <a:t>"a = faa = haa +</a:t>
            </a:r>
          </a:p>
          <a:p>
            <a:r>
              <a:t>N/2X</a:t>
            </a:r>
          </a:p>
          <a:p>
            <a:r>
              <a:t>b</a:t>
            </a:r>
          </a:p>
          <a:p>
            <a:r>
              <a:t>[2Jab _x0000_ Kab]= haa + Jaa +</a:t>
            </a:r>
          </a:p>
          <a:p>
            <a:r>
              <a:t>N/2X</a:t>
            </a:r>
          </a:p>
          <a:p>
            <a:r>
              <a:t>b6=a</a:t>
            </a:r>
          </a:p>
          <a:p>
            <a:r>
              <a:t>[2</a:t>
            </a:r>
          </a:p>
          <a:p/>
          <a:p>
            <a:r>
              <a:t>資料來源頁碼：9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這一頁聚焦在「38 O. K ¨UHN</a:t>
            </a:r>
          </a:p>
          <a:p>
            <a:r>
              <a:t>1 1 H 1S 」。38 O. K ¨UHN</a:t>
            </a:r>
          </a:p>
          <a:p>
            <a:r>
              <a:t>1 1 H 1S -0.80727 -0.84268</a:t>
            </a:r>
          </a:p>
          <a:p>
            <a:r>
              <a:t>2 2 O 1S -0.13562 0.00000</a:t>
            </a:r>
          </a:p>
          <a:p>
            <a:r>
              <a:t>3 2S 0.90849 0.00000</a:t>
            </a:r>
          </a:p>
          <a:p>
            <a:r>
              <a:t>4 2PX -0.00000 0.00000</a:t>
            </a:r>
          </a:p>
          <a:p>
            <a:r>
              <a:t>5 2PY -0.00000 1.00887</a:t>
            </a:r>
          </a:p>
          <a:p>
            <a:r>
              <a:t>6 2PZ -0.71457 0.00000</a:t>
            </a:r>
          </a:p>
          <a:p>
            <a:r>
              <a:t>7 3 H 1S -0.80727 0.84268</a:t>
            </a:r>
          </a:p>
          <a:p>
            <a:r>
              <a:t>Total atomic charges:</a:t>
            </a:r>
          </a:p>
          <a:p>
            <a:r>
              <a:t>1</a:t>
            </a:r>
          </a:p>
          <a:p>
            <a:r>
              <a:t>1 H 0.190945</a:t>
            </a:r>
          </a:p>
          <a:p>
            <a:r>
              <a:t>2 O -0.381891</a:t>
            </a:r>
          </a:p>
          <a:p>
            <a:r>
              <a:t>3 H 0.190945</a:t>
            </a:r>
          </a:p>
          <a:p>
            <a:r>
              <a:t>Sum of Mulliken charges= -0.00000</a:t>
            </a:r>
          </a:p>
          <a:p>
            <a:r>
              <a:t>Atomic charges with </a:t>
            </a:r>
          </a:p>
          <a:p/>
          <a:p>
            <a:r>
              <a:t>資料來源頁碼：12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這一頁聚焦在「THEORETICAL MOLECULAR 」。THEORETICAL MOLECULAR PHYSICS 41</a:t>
            </a:r>
          </a:p>
          <a:p>
            <a:r>
              <a:t>Control Questions</a:t>
            </a:r>
          </a:p>
          <a:p>
            <a:r>
              <a:t>• What is the Born-Oppenheimer approximation and who it is used?</a:t>
            </a:r>
          </a:p>
          <a:p>
            <a:r>
              <a:t>• What is a Slater determinant and why it is a reasonable ansatz for a multi-electron wave</a:t>
            </a:r>
          </a:p>
          <a:p>
            <a:r>
              <a:t>function?</a:t>
            </a:r>
          </a:p>
          <a:p>
            <a:r>
              <a:t>• What is exchange correlation?</a:t>
            </a:r>
          </a:p>
          <a:p>
            <a:r>
              <a:t>• Explain the terms Coulomb and exchange energy.</a:t>
            </a:r>
          </a:p>
          <a:p>
            <a:r>
              <a:t>• </a:t>
            </a:r>
          </a:p>
          <a:p/>
          <a:p>
            <a:r>
              <a:t>資料來源頁碼：15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最後，請回想今天最重要的三個觀念。試著用自己的話重述，並思考它能如何應用在真實情境中。</a:t>
            </a:r>
          </a:p>
          <a:p/>
          <a:p>
            <a:r>
              <a:t>資料來源頁碼：14,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MolPhys2.4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課程重點與學習路徑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預計時間：30 分鐘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THEORETICAL MOLECULAR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THEORETICAL MOLECULAR PHYSICS 27</a:t>
            </a:r>
            <a:br/>
            <a:r>
              <a:t>2.4. Hartree Fock 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30 O. K ¨UHN</a:t>
            </a:r>
            <a:br/>
            <a:r>
              <a:t>(taken 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30 O. K ¨UHN</a:t>
            </a:r>
            <a:br/>
            <a:r>
              <a:t>(taken from Helgaker et al.)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THEORETICAL MOLECULAR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THEORETICAL MOLECULAR PHYSICS 33</a:t>
            </a:r>
            <a:br/>
            <a:r>
              <a:t>FIGURE 17. (from Cr…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THEORETICAL MOLECULAR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THEORETICAL MOLECULAR PHYSICS 35</a:t>
            </a:r>
            <a:br/>
            <a:r>
              <a:t>• Question: What’s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38 O. K ¨UHN</a:t>
            </a:r>
            <a:br/>
            <a:r>
              <a:t>1 1 H 1S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38 O. K ¨UHN</a:t>
            </a:r>
            <a:br/>
            <a:r>
              <a:t>1 1 H 1S -0.80727 -0.84268</a:t>
            </a:r>
            <a:br/>
            <a:r>
              <a:t>2 2 O 1S -0.…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THEORETICAL MOLECULAR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THEORETICAL MOLECULAR PHYSICS 41</a:t>
            </a:r>
            <a:br/>
            <a:r>
              <a:t>Control Questions</a:t>
            </a:r>
            <a:br/>
            <a:r>
              <a:t>•…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重點回顧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用自己的話說明核心概念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連結教材內容與真實情境</a:t>
            </a:r>
          </a:p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提出一個仍想深入探索的問題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